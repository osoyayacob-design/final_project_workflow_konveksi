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Antonio Bold" charset="1" panose="02000803000000000000"/>
      <p:regular r:id="rId12"/>
    </p:embeddedFont>
    <p:embeddedFont>
      <p:font typeface="Antonio" charset="1" panose="02000503000000000000"/>
      <p:regular r:id="rId13"/>
    </p:embeddedFont>
    <p:embeddedFont>
      <p:font typeface="Inter Bold" charset="1" panose="020B0802030000000004"/>
      <p:regular r:id="rId14"/>
    </p:embeddedFont>
    <p:embeddedFont>
      <p:font typeface="Antonio Ultra-Bold" charset="1" panose="02000803000000000000"/>
      <p:regular r:id="rId15"/>
    </p:embeddedFont>
    <p:embeddedFont>
      <p:font typeface="Inter" charset="1" panose="020B0502030000000004"/>
      <p:regular r:id="rId16"/>
    </p:embeddedFont>
    <p:embeddedFont>
      <p:font typeface="Inter Ultra-Bold" charset="1" panose="020005030000000200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png" Type="http://schemas.openxmlformats.org/officeDocument/2006/relationships/image"/><Relationship Id="rId12" Target="../media/image21.png" Type="http://schemas.openxmlformats.org/officeDocument/2006/relationships/image"/><Relationship Id="rId13" Target="../media/image22.png" Type="http://schemas.openxmlformats.org/officeDocument/2006/relationships/image"/><Relationship Id="rId14" Target="../media/image23.png" Type="http://schemas.openxmlformats.org/officeDocument/2006/relationships/image"/><Relationship Id="rId15" Target="../media/image24.png" Type="http://schemas.openxmlformats.org/officeDocument/2006/relationships/image"/><Relationship Id="rId16" Target="../media/image25.png" Type="http://schemas.openxmlformats.org/officeDocument/2006/relationships/image"/><Relationship Id="rId17" Target="../media/image26.png" Type="http://schemas.openxmlformats.org/officeDocument/2006/relationships/image"/><Relationship Id="rId18" Target="../media/image27.png" Type="http://schemas.openxmlformats.org/officeDocument/2006/relationships/image"/><Relationship Id="rId19" Target="../media/image28.png" Type="http://schemas.openxmlformats.org/officeDocument/2006/relationships/image"/><Relationship Id="rId2" Target="../media/image11.png" Type="http://schemas.openxmlformats.org/officeDocument/2006/relationships/image"/><Relationship Id="rId20" Target="../media/image29.png" Type="http://schemas.openxmlformats.org/officeDocument/2006/relationships/image"/><Relationship Id="rId21" Target="../media/image30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Relationship Id="rId8" Target="../media/image17.pn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pn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Relationship Id="rId6" Target="../media/image3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37.png" Type="http://schemas.openxmlformats.org/officeDocument/2006/relationships/image"/><Relationship Id="rId4" Target="../media/image38.png" Type="http://schemas.openxmlformats.org/officeDocument/2006/relationships/image"/><Relationship Id="rId5" Target="../media/image39.png" Type="http://schemas.openxmlformats.org/officeDocument/2006/relationships/image"/><Relationship Id="rId6" Target="../media/image4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Relationship Id="rId7" Target="../media/image46.png" Type="http://schemas.openxmlformats.org/officeDocument/2006/relationships/image"/><Relationship Id="rId8" Target="../media/image47.png" Type="http://schemas.openxmlformats.org/officeDocument/2006/relationships/image"/><Relationship Id="rId9" Target="../media/image4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0237780" cy="10287000"/>
          </a:xfrm>
          <a:custGeom>
            <a:avLst/>
            <a:gdLst/>
            <a:ahLst/>
            <a:cxnLst/>
            <a:rect r="r" b="b" t="t" l="l"/>
            <a:pathLst>
              <a:path h="10287000" w="10237780">
                <a:moveTo>
                  <a:pt x="0" y="0"/>
                </a:moveTo>
                <a:lnTo>
                  <a:pt x="10237780" y="0"/>
                </a:lnTo>
                <a:lnTo>
                  <a:pt x="1023778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7499343"/>
            <a:ext cx="16986402" cy="2787657"/>
          </a:xfrm>
          <a:custGeom>
            <a:avLst/>
            <a:gdLst/>
            <a:ahLst/>
            <a:cxnLst/>
            <a:rect r="r" b="b" t="t" l="l"/>
            <a:pathLst>
              <a:path h="2787657" w="16986402">
                <a:moveTo>
                  <a:pt x="0" y="0"/>
                </a:moveTo>
                <a:lnTo>
                  <a:pt x="16986402" y="0"/>
                </a:lnTo>
                <a:lnTo>
                  <a:pt x="16986402" y="2787657"/>
                </a:lnTo>
                <a:lnTo>
                  <a:pt x="0" y="27876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64086" y="1071335"/>
            <a:ext cx="1531292" cy="218640"/>
          </a:xfrm>
          <a:custGeom>
            <a:avLst/>
            <a:gdLst/>
            <a:ahLst/>
            <a:cxnLst/>
            <a:rect r="r" b="b" t="t" l="l"/>
            <a:pathLst>
              <a:path h="218640" w="1531292">
                <a:moveTo>
                  <a:pt x="0" y="0"/>
                </a:moveTo>
                <a:lnTo>
                  <a:pt x="1531292" y="0"/>
                </a:lnTo>
                <a:lnTo>
                  <a:pt x="1531292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4128" y="1638927"/>
            <a:ext cx="7351776" cy="4837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3"/>
              </a:lnSpc>
            </a:pPr>
            <a:r>
              <a:rPr lang="en-US" b="true" sz="8594" spc="-171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OTOMASI PENGECEKAN STOK BAHAN KONVEKSI BERDASARKAN PURCHASE ORDER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64086" y="6428009"/>
            <a:ext cx="7197072" cy="218640"/>
          </a:xfrm>
          <a:custGeom>
            <a:avLst/>
            <a:gdLst/>
            <a:ahLst/>
            <a:cxnLst/>
            <a:rect r="r" b="b" t="t" l="l"/>
            <a:pathLst>
              <a:path h="218640" w="7197072">
                <a:moveTo>
                  <a:pt x="0" y="0"/>
                </a:moveTo>
                <a:lnTo>
                  <a:pt x="7197072" y="0"/>
                </a:lnTo>
                <a:lnTo>
                  <a:pt x="7197072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4128" y="6924318"/>
            <a:ext cx="7077456" cy="505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7"/>
              </a:lnSpc>
            </a:pPr>
            <a:r>
              <a:rPr lang="en-US" sz="3062">
                <a:solidFill>
                  <a:srgbClr val="FFFFFF"/>
                </a:solidFill>
                <a:latin typeface="Antonio"/>
                <a:ea typeface="Antonio"/>
                <a:cs typeface="Antonio"/>
                <a:sym typeface="Antonio"/>
              </a:rPr>
              <a:t>n8n + Gemini + Gmail + Google Sheets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4128" y="8422252"/>
            <a:ext cx="3401568" cy="618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52"/>
              </a:lnSpc>
            </a:pPr>
            <a:r>
              <a:rPr lang="en-US" sz="3609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Yacob Osoya 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4128" y="9104482"/>
            <a:ext cx="5084064" cy="392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8"/>
              </a:lnSpc>
            </a:pPr>
            <a:r>
              <a:rPr lang="en-US" sz="2384">
                <a:solidFill>
                  <a:srgbClr val="FFFFFF"/>
                </a:solidFill>
                <a:latin typeface="Antonio"/>
                <a:ea typeface="Antonio"/>
                <a:cs typeface="Antonio"/>
                <a:sym typeface="Antonio"/>
              </a:rPr>
              <a:t>PPKD JakBar AI Automation Engineer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2832890" cy="8789318"/>
          </a:xfrm>
          <a:custGeom>
            <a:avLst/>
            <a:gdLst/>
            <a:ahLst/>
            <a:cxnLst/>
            <a:rect r="r" b="b" t="t" l="l"/>
            <a:pathLst>
              <a:path h="8789318" w="2832890">
                <a:moveTo>
                  <a:pt x="0" y="0"/>
                </a:moveTo>
                <a:lnTo>
                  <a:pt x="2832890" y="0"/>
                </a:lnTo>
                <a:lnTo>
                  <a:pt x="2832890" y="8789318"/>
                </a:lnTo>
                <a:lnTo>
                  <a:pt x="0" y="87893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9204733"/>
            <a:ext cx="8717426" cy="1082267"/>
          </a:xfrm>
          <a:custGeom>
            <a:avLst/>
            <a:gdLst/>
            <a:ahLst/>
            <a:cxnLst/>
            <a:rect r="r" b="b" t="t" l="l"/>
            <a:pathLst>
              <a:path h="1082267" w="8717426">
                <a:moveTo>
                  <a:pt x="0" y="0"/>
                </a:moveTo>
                <a:lnTo>
                  <a:pt x="8717426" y="0"/>
                </a:lnTo>
                <a:lnTo>
                  <a:pt x="8717426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268976" y="0"/>
            <a:ext cx="10019024" cy="10287000"/>
          </a:xfrm>
          <a:custGeom>
            <a:avLst/>
            <a:gdLst/>
            <a:ahLst/>
            <a:cxnLst/>
            <a:rect r="r" b="b" t="t" l="l"/>
            <a:pathLst>
              <a:path h="10287000" w="10019024">
                <a:moveTo>
                  <a:pt x="0" y="0"/>
                </a:moveTo>
                <a:lnTo>
                  <a:pt x="10019024" y="0"/>
                </a:lnTo>
                <a:lnTo>
                  <a:pt x="1001902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50976" y="971452"/>
            <a:ext cx="6931152" cy="2428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87"/>
              </a:lnSpc>
            </a:pPr>
            <a:r>
              <a:rPr lang="en-US" sz="16072" b="true">
                <a:solidFill>
                  <a:srgbClr val="FFFFFF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PROBLEM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64086" y="3640352"/>
            <a:ext cx="5020450" cy="218640"/>
          </a:xfrm>
          <a:custGeom>
            <a:avLst/>
            <a:gdLst/>
            <a:ahLst/>
            <a:cxnLst/>
            <a:rect r="r" b="b" t="t" l="l"/>
            <a:pathLst>
              <a:path h="218640" w="5020450">
                <a:moveTo>
                  <a:pt x="0" y="0"/>
                </a:moveTo>
                <a:lnTo>
                  <a:pt x="5020450" y="0"/>
                </a:lnTo>
                <a:lnTo>
                  <a:pt x="5020450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53312" y="4289609"/>
            <a:ext cx="5413248" cy="898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4"/>
              </a:lnSpc>
            </a:pPr>
            <a:r>
              <a:rPr lang="en-US" sz="263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Manajemen stok bahan belum rapi dan tidak up to date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53312" y="5719502"/>
            <a:ext cx="5340096" cy="898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4"/>
              </a:lnSpc>
            </a:pPr>
            <a:r>
              <a:rPr lang="en-US" sz="263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Kekurangan bahan baru diketahui saat produksi berjalan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53312" y="7118534"/>
            <a:ext cx="5102352" cy="898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4"/>
              </a:lnSpc>
            </a:pPr>
            <a:r>
              <a:rPr lang="en-US" sz="263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Pencatatan PO manual dari PDF memakan waktu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53312" y="8432991"/>
            <a:ext cx="5833872" cy="440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1"/>
              </a:lnSpc>
            </a:pPr>
            <a:r>
              <a:rPr lang="en-US" sz="260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Proses manual rawan kesalahan data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184708" y="0"/>
            <a:ext cx="6103292" cy="10287000"/>
          </a:xfrm>
          <a:custGeom>
            <a:avLst/>
            <a:gdLst/>
            <a:ahLst/>
            <a:cxnLst/>
            <a:rect r="r" b="b" t="t" l="l"/>
            <a:pathLst>
              <a:path h="10287000" w="6103292">
                <a:moveTo>
                  <a:pt x="0" y="0"/>
                </a:moveTo>
                <a:lnTo>
                  <a:pt x="6103292" y="0"/>
                </a:lnTo>
                <a:lnTo>
                  <a:pt x="610329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86384" y="709929"/>
            <a:ext cx="4407408" cy="2088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05"/>
              </a:lnSpc>
            </a:pPr>
            <a:r>
              <a:rPr lang="en-US" sz="13754" b="true">
                <a:solidFill>
                  <a:srgbClr val="FFFFFF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SOLUSI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5330" y="2569017"/>
            <a:ext cx="2843828" cy="218640"/>
          </a:xfrm>
          <a:custGeom>
            <a:avLst/>
            <a:gdLst/>
            <a:ahLst/>
            <a:cxnLst/>
            <a:rect r="r" b="b" t="t" l="l"/>
            <a:pathLst>
              <a:path h="218640" w="2843828">
                <a:moveTo>
                  <a:pt x="0" y="0"/>
                </a:moveTo>
                <a:lnTo>
                  <a:pt x="2843828" y="0"/>
                </a:lnTo>
                <a:lnTo>
                  <a:pt x="2843828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86384" y="3092334"/>
            <a:ext cx="7351776" cy="799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8"/>
              </a:lnSpc>
            </a:pPr>
            <a:r>
              <a:rPr lang="en-US" sz="2723" b="true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OTOMASI PENGECEKAN STOK BAHAN KONVEKSI BERDASARKAN PURCHASE ORDER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45330" y="4711687"/>
            <a:ext cx="2843828" cy="3432644"/>
          </a:xfrm>
          <a:custGeom>
            <a:avLst/>
            <a:gdLst/>
            <a:ahLst/>
            <a:cxnLst/>
            <a:rect r="r" b="b" t="t" l="l"/>
            <a:pathLst>
              <a:path h="3432644" w="2843828">
                <a:moveTo>
                  <a:pt x="0" y="0"/>
                </a:moveTo>
                <a:lnTo>
                  <a:pt x="2843828" y="0"/>
                </a:lnTo>
                <a:lnTo>
                  <a:pt x="2843828" y="3432643"/>
                </a:lnTo>
                <a:lnTo>
                  <a:pt x="0" y="34326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97280" y="5157591"/>
            <a:ext cx="585216" cy="568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7"/>
              </a:lnSpc>
            </a:pPr>
            <a:r>
              <a:rPr lang="en-US" sz="3797" b="true">
                <a:solidFill>
                  <a:srgbClr val="66111F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97280" y="5945220"/>
            <a:ext cx="1554480" cy="733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sz="2299">
                <a:solidFill>
                  <a:srgbClr val="FFFFFF"/>
                </a:solidFill>
                <a:latin typeface="Antonio"/>
                <a:ea typeface="Antonio"/>
                <a:cs typeface="Antonio"/>
                <a:sym typeface="Antonio"/>
              </a:rPr>
              <a:t>PO masuk lewat Gmail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64086" y="7707051"/>
            <a:ext cx="1104718" cy="229572"/>
          </a:xfrm>
          <a:custGeom>
            <a:avLst/>
            <a:gdLst/>
            <a:ahLst/>
            <a:cxnLst/>
            <a:rect r="r" b="b" t="t" l="l"/>
            <a:pathLst>
              <a:path h="229572" w="1104718">
                <a:moveTo>
                  <a:pt x="0" y="0"/>
                </a:moveTo>
                <a:lnTo>
                  <a:pt x="1104718" y="0"/>
                </a:lnTo>
                <a:lnTo>
                  <a:pt x="110471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696976" y="4711687"/>
            <a:ext cx="2843828" cy="3432644"/>
          </a:xfrm>
          <a:custGeom>
            <a:avLst/>
            <a:gdLst/>
            <a:ahLst/>
            <a:cxnLst/>
            <a:rect r="r" b="b" t="t" l="l"/>
            <a:pathLst>
              <a:path h="3432644" w="2843828">
                <a:moveTo>
                  <a:pt x="0" y="0"/>
                </a:moveTo>
                <a:lnTo>
                  <a:pt x="2843828" y="0"/>
                </a:lnTo>
                <a:lnTo>
                  <a:pt x="2843828" y="3432643"/>
                </a:lnTo>
                <a:lnTo>
                  <a:pt x="0" y="34326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096512" y="5146659"/>
            <a:ext cx="676656" cy="590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34"/>
              </a:lnSpc>
            </a:pPr>
            <a:r>
              <a:rPr lang="en-US" sz="3945" b="true">
                <a:solidFill>
                  <a:srgbClr val="66111F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096512" y="5974725"/>
            <a:ext cx="2157984" cy="1476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sz="2299">
                <a:solidFill>
                  <a:srgbClr val="FFFFFF"/>
                </a:solidFill>
                <a:latin typeface="Antonio"/>
                <a:ea typeface="Antonio"/>
                <a:cs typeface="Antonio"/>
                <a:sym typeface="Antonio"/>
              </a:rPr>
              <a:t>Gemini membaca PDF dan ambil no PO, model, dan jumlah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3915732" y="7707051"/>
            <a:ext cx="1093780" cy="229572"/>
          </a:xfrm>
          <a:custGeom>
            <a:avLst/>
            <a:gdLst/>
            <a:ahLst/>
            <a:cxnLst/>
            <a:rect r="r" b="b" t="t" l="l"/>
            <a:pathLst>
              <a:path h="229572" w="1093780">
                <a:moveTo>
                  <a:pt x="0" y="0"/>
                </a:moveTo>
                <a:lnTo>
                  <a:pt x="1093780" y="0"/>
                </a:lnTo>
                <a:lnTo>
                  <a:pt x="109378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748622" y="4711687"/>
            <a:ext cx="2832890" cy="3432644"/>
          </a:xfrm>
          <a:custGeom>
            <a:avLst/>
            <a:gdLst/>
            <a:ahLst/>
            <a:cxnLst/>
            <a:rect r="r" b="b" t="t" l="l"/>
            <a:pathLst>
              <a:path h="3432644" w="2832890">
                <a:moveTo>
                  <a:pt x="0" y="0"/>
                </a:moveTo>
                <a:lnTo>
                  <a:pt x="2832890" y="0"/>
                </a:lnTo>
                <a:lnTo>
                  <a:pt x="2832890" y="3432643"/>
                </a:lnTo>
                <a:lnTo>
                  <a:pt x="0" y="34326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168896" y="5146659"/>
            <a:ext cx="676656" cy="590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5"/>
              </a:lnSpc>
            </a:pPr>
            <a:r>
              <a:rPr lang="en-US" sz="3871" b="true">
                <a:solidFill>
                  <a:srgbClr val="66111F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03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168896" y="5970260"/>
            <a:ext cx="1609344" cy="1104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sz="2299">
                <a:solidFill>
                  <a:srgbClr val="FFFFFF"/>
                </a:solidFill>
                <a:latin typeface="Antonio"/>
                <a:ea typeface="Antonio"/>
                <a:cs typeface="Antonio"/>
                <a:sym typeface="Antonio"/>
              </a:rPr>
              <a:t>Data dicatat ke Google Sheets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6956440" y="7707051"/>
            <a:ext cx="1104718" cy="229572"/>
          </a:xfrm>
          <a:custGeom>
            <a:avLst/>
            <a:gdLst/>
            <a:ahLst/>
            <a:cxnLst/>
            <a:rect r="r" b="b" t="t" l="l"/>
            <a:pathLst>
              <a:path h="229572" w="1104718">
                <a:moveTo>
                  <a:pt x="0" y="0"/>
                </a:moveTo>
                <a:lnTo>
                  <a:pt x="1104718" y="0"/>
                </a:lnTo>
                <a:lnTo>
                  <a:pt x="110471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789330" y="4711687"/>
            <a:ext cx="2843828" cy="3432644"/>
          </a:xfrm>
          <a:custGeom>
            <a:avLst/>
            <a:gdLst/>
            <a:ahLst/>
            <a:cxnLst/>
            <a:rect r="r" b="b" t="t" l="l"/>
            <a:pathLst>
              <a:path h="3432644" w="2843828">
                <a:moveTo>
                  <a:pt x="0" y="0"/>
                </a:moveTo>
                <a:lnTo>
                  <a:pt x="2843828" y="0"/>
                </a:lnTo>
                <a:lnTo>
                  <a:pt x="2843828" y="3432643"/>
                </a:lnTo>
                <a:lnTo>
                  <a:pt x="0" y="343264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186416" y="5157591"/>
            <a:ext cx="676656" cy="568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7"/>
              </a:lnSpc>
            </a:pPr>
            <a:r>
              <a:rPr lang="en-US" sz="3797" b="true">
                <a:solidFill>
                  <a:srgbClr val="66111F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04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186416" y="5974725"/>
            <a:ext cx="2157984" cy="1476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sz="2299">
                <a:solidFill>
                  <a:srgbClr val="FFFFFF"/>
                </a:solidFill>
                <a:latin typeface="Antonio"/>
                <a:ea typeface="Antonio"/>
                <a:cs typeface="Antonio"/>
                <a:sym typeface="Antonio"/>
              </a:rPr>
              <a:t>Sistem hitung kebutuhan bahan dan bandingkan dengan stok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0008086" y="7707051"/>
            <a:ext cx="1104718" cy="229572"/>
          </a:xfrm>
          <a:custGeom>
            <a:avLst/>
            <a:gdLst/>
            <a:ahLst/>
            <a:cxnLst/>
            <a:rect r="r" b="b" t="t" l="l"/>
            <a:pathLst>
              <a:path h="229572" w="1104718">
                <a:moveTo>
                  <a:pt x="0" y="0"/>
                </a:moveTo>
                <a:lnTo>
                  <a:pt x="1104718" y="0"/>
                </a:lnTo>
                <a:lnTo>
                  <a:pt x="110471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4580086" y="2569017"/>
            <a:ext cx="3062584" cy="3432644"/>
          </a:xfrm>
          <a:custGeom>
            <a:avLst/>
            <a:gdLst/>
            <a:ahLst/>
            <a:cxnLst/>
            <a:rect r="r" b="b" t="t" l="l"/>
            <a:pathLst>
              <a:path h="3432644" w="3062584">
                <a:moveTo>
                  <a:pt x="0" y="0"/>
                </a:moveTo>
                <a:lnTo>
                  <a:pt x="3062584" y="0"/>
                </a:lnTo>
                <a:lnTo>
                  <a:pt x="3062584" y="3432644"/>
                </a:lnTo>
                <a:lnTo>
                  <a:pt x="0" y="343264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4996160" y="3122817"/>
            <a:ext cx="950976" cy="534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1"/>
              </a:lnSpc>
            </a:pPr>
            <a:r>
              <a:rPr lang="en-US" sz="3501" b="true">
                <a:solidFill>
                  <a:srgbClr val="66111F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05A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996160" y="3879779"/>
            <a:ext cx="2157984" cy="295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1940" b="true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Jika bahan lengkap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996160" y="4398906"/>
            <a:ext cx="2194560" cy="945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2"/>
              </a:lnSpc>
            </a:pPr>
            <a:r>
              <a:rPr lang="en-US" sz="1940">
                <a:solidFill>
                  <a:srgbClr val="FFFFFF"/>
                </a:solidFill>
                <a:latin typeface="Antonio"/>
                <a:ea typeface="Antonio"/>
                <a:cs typeface="Antonio"/>
                <a:sym typeface="Antonio"/>
              </a:rPr>
              <a:t>email reminder ke tim produksi bahwa PO aman diproses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4798842" y="5564382"/>
            <a:ext cx="1104718" cy="229572"/>
          </a:xfrm>
          <a:custGeom>
            <a:avLst/>
            <a:gdLst/>
            <a:ahLst/>
            <a:cxnLst/>
            <a:rect r="r" b="b" t="t" l="l"/>
            <a:pathLst>
              <a:path h="229572" w="1104718">
                <a:moveTo>
                  <a:pt x="0" y="0"/>
                </a:moveTo>
                <a:lnTo>
                  <a:pt x="1104718" y="0"/>
                </a:lnTo>
                <a:lnTo>
                  <a:pt x="1104718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4580086" y="6209369"/>
            <a:ext cx="3062584" cy="3224936"/>
          </a:xfrm>
          <a:custGeom>
            <a:avLst/>
            <a:gdLst/>
            <a:ahLst/>
            <a:cxnLst/>
            <a:rect r="r" b="b" t="t" l="l"/>
            <a:pathLst>
              <a:path h="3224936" w="3062584">
                <a:moveTo>
                  <a:pt x="0" y="0"/>
                </a:moveTo>
                <a:lnTo>
                  <a:pt x="3062584" y="0"/>
                </a:lnTo>
                <a:lnTo>
                  <a:pt x="3062584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4996160" y="6676008"/>
            <a:ext cx="950976" cy="567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3"/>
              </a:lnSpc>
            </a:pPr>
            <a:r>
              <a:rPr lang="en-US" sz="3686" b="true">
                <a:solidFill>
                  <a:srgbClr val="66111F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05B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996160" y="7521377"/>
            <a:ext cx="2194560" cy="295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1940" b="true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Jika bahan kurang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996160" y="8044712"/>
            <a:ext cx="1627632" cy="62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2"/>
              </a:lnSpc>
            </a:pPr>
            <a:r>
              <a:rPr lang="en-US" sz="1940">
                <a:solidFill>
                  <a:srgbClr val="FFFFFF"/>
                </a:solidFill>
                <a:latin typeface="Antonio"/>
                <a:ea typeface="Antonio"/>
                <a:cs typeface="Antonio"/>
                <a:sym typeface="Antonio"/>
              </a:rPr>
              <a:t>email ke</a:t>
            </a:r>
          </a:p>
          <a:p>
            <a:pPr algn="l">
              <a:lnSpc>
                <a:spcPts val="2522"/>
              </a:lnSpc>
            </a:pPr>
            <a:r>
              <a:rPr lang="en-US" sz="1940">
                <a:solidFill>
                  <a:srgbClr val="FFFFFF"/>
                </a:solidFill>
                <a:latin typeface="Antonio"/>
                <a:ea typeface="Antonio"/>
                <a:cs typeface="Antonio"/>
                <a:sym typeface="Antonio"/>
              </a:rPr>
              <a:t>tim pembelian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4798842" y="8997026"/>
            <a:ext cx="1104718" cy="218640"/>
          </a:xfrm>
          <a:custGeom>
            <a:avLst/>
            <a:gdLst/>
            <a:ahLst/>
            <a:cxnLst/>
            <a:rect r="r" b="b" t="t" l="l"/>
            <a:pathLst>
              <a:path h="218640" w="1104718">
                <a:moveTo>
                  <a:pt x="0" y="0"/>
                </a:moveTo>
                <a:lnTo>
                  <a:pt x="1104718" y="0"/>
                </a:lnTo>
                <a:lnTo>
                  <a:pt x="1104718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3259464" y="6209369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6311110" y="6209369"/>
            <a:ext cx="656268" cy="437279"/>
          </a:xfrm>
          <a:custGeom>
            <a:avLst/>
            <a:gdLst/>
            <a:ahLst/>
            <a:cxnLst/>
            <a:rect r="r" b="b" t="t" l="l"/>
            <a:pathLst>
              <a:path h="437279" w="656268">
                <a:moveTo>
                  <a:pt x="0" y="0"/>
                </a:moveTo>
                <a:lnTo>
                  <a:pt x="656268" y="0"/>
                </a:lnTo>
                <a:lnTo>
                  <a:pt x="65626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9351818" y="6209369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2403464" y="3848060"/>
            <a:ext cx="2406316" cy="2590881"/>
          </a:xfrm>
          <a:custGeom>
            <a:avLst/>
            <a:gdLst/>
            <a:ahLst/>
            <a:cxnLst/>
            <a:rect r="r" b="b" t="t" l="l"/>
            <a:pathLst>
              <a:path h="2590881" w="2406316">
                <a:moveTo>
                  <a:pt x="0" y="0"/>
                </a:moveTo>
                <a:lnTo>
                  <a:pt x="2406316" y="0"/>
                </a:lnTo>
                <a:lnTo>
                  <a:pt x="2406316" y="2590880"/>
                </a:lnTo>
                <a:lnTo>
                  <a:pt x="0" y="259088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2403464" y="6209369"/>
            <a:ext cx="2406316" cy="1934962"/>
          </a:xfrm>
          <a:custGeom>
            <a:avLst/>
            <a:gdLst/>
            <a:ahLst/>
            <a:cxnLst/>
            <a:rect r="r" b="b" t="t" l="l"/>
            <a:pathLst>
              <a:path h="1934962" w="2406316">
                <a:moveTo>
                  <a:pt x="0" y="0"/>
                </a:moveTo>
                <a:lnTo>
                  <a:pt x="2406316" y="0"/>
                </a:lnTo>
                <a:lnTo>
                  <a:pt x="2406316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2187560" cy="644987"/>
          </a:xfrm>
          <a:custGeom>
            <a:avLst/>
            <a:gdLst/>
            <a:ahLst/>
            <a:cxnLst/>
            <a:rect r="r" b="b" t="t" l="l"/>
            <a:pathLst>
              <a:path h="644987" w="2187560">
                <a:moveTo>
                  <a:pt x="0" y="0"/>
                </a:moveTo>
                <a:lnTo>
                  <a:pt x="2187560" y="0"/>
                </a:lnTo>
                <a:lnTo>
                  <a:pt x="2187560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8997026"/>
            <a:ext cx="4572000" cy="1289974"/>
          </a:xfrm>
          <a:custGeom>
            <a:avLst/>
            <a:gdLst/>
            <a:ahLst/>
            <a:cxnLst/>
            <a:rect r="r" b="b" t="t" l="l"/>
            <a:pathLst>
              <a:path h="1289974" w="4572000">
                <a:moveTo>
                  <a:pt x="0" y="0"/>
                </a:moveTo>
                <a:lnTo>
                  <a:pt x="4572000" y="0"/>
                </a:lnTo>
                <a:lnTo>
                  <a:pt x="4572000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65260" y="951396"/>
            <a:ext cx="5376672" cy="1461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89"/>
              </a:lnSpc>
            </a:pPr>
            <a:r>
              <a:rPr lang="en-US" b="true" sz="11089" spc="-332">
                <a:solidFill>
                  <a:srgbClr val="E6E6E6"/>
                </a:solidFill>
                <a:latin typeface="Antonio Bold"/>
                <a:ea typeface="Antonio Bold"/>
                <a:cs typeface="Antonio Bold"/>
                <a:sym typeface="Antonio Bold"/>
              </a:rPr>
              <a:t>WORKFLOW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941932" y="941871"/>
            <a:ext cx="2011680" cy="1483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55"/>
              </a:lnSpc>
            </a:pPr>
            <a:r>
              <a:rPr lang="en-US" b="true" sz="11155" spc="-334">
                <a:solidFill>
                  <a:srgbClr val="8F001E"/>
                </a:solidFill>
                <a:latin typeface="Antonio Bold"/>
                <a:ea typeface="Antonio Bold"/>
                <a:cs typeface="Antonio Bold"/>
                <a:sym typeface="Antonio Bold"/>
              </a:rPr>
              <a:t>N8N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64086" y="4711687"/>
            <a:ext cx="3707914" cy="218640"/>
          </a:xfrm>
          <a:custGeom>
            <a:avLst/>
            <a:gdLst/>
            <a:ahLst/>
            <a:cxnLst/>
            <a:rect r="r" b="b" t="t" l="l"/>
            <a:pathLst>
              <a:path h="218640" w="3707914">
                <a:moveTo>
                  <a:pt x="0" y="0"/>
                </a:moveTo>
                <a:lnTo>
                  <a:pt x="3707914" y="0"/>
                </a:lnTo>
                <a:lnTo>
                  <a:pt x="3707914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93940" y="3023019"/>
            <a:ext cx="17100120" cy="7117925"/>
          </a:xfrm>
          <a:custGeom>
            <a:avLst/>
            <a:gdLst/>
            <a:ahLst/>
            <a:cxnLst/>
            <a:rect r="r" b="b" t="t" l="l"/>
            <a:pathLst>
              <a:path h="7117925" w="17100120">
                <a:moveTo>
                  <a:pt x="0" y="0"/>
                </a:moveTo>
                <a:lnTo>
                  <a:pt x="17100120" y="0"/>
                </a:lnTo>
                <a:lnTo>
                  <a:pt x="17100120" y="7117925"/>
                </a:lnTo>
                <a:lnTo>
                  <a:pt x="0" y="71179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7" r="0" b="-7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586370" y="789471"/>
            <a:ext cx="2322576" cy="402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0"/>
              </a:lnSpc>
            </a:pPr>
            <a:r>
              <a:rPr lang="en-US" sz="3030" spc="-90">
                <a:solidFill>
                  <a:srgbClr val="E6E6E6"/>
                </a:solidFill>
                <a:latin typeface="Inter"/>
                <a:ea typeface="Inter"/>
                <a:cs typeface="Inter"/>
                <a:sym typeface="Inter"/>
              </a:rPr>
              <a:t>Gmail Trigger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04658" y="1618392"/>
            <a:ext cx="4498848" cy="390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1"/>
              </a:lnSpc>
            </a:pPr>
            <a:r>
              <a:rPr lang="en-US" sz="2991" spc="-89">
                <a:solidFill>
                  <a:srgbClr val="E6E6E6"/>
                </a:solidFill>
                <a:latin typeface="Inter"/>
                <a:ea typeface="Inter"/>
                <a:cs typeface="Inter"/>
                <a:sym typeface="Inter"/>
              </a:rPr>
              <a:t>Gemini Analyze Document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22946" y="2437522"/>
            <a:ext cx="4773168" cy="377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3"/>
              </a:lnSpc>
            </a:pPr>
            <a:r>
              <a:rPr lang="en-US" sz="2913" spc="-87">
                <a:solidFill>
                  <a:srgbClr val="E6E6E6"/>
                </a:solidFill>
                <a:latin typeface="Inter"/>
                <a:ea typeface="Inter"/>
                <a:cs typeface="Inter"/>
                <a:sym typeface="Inter"/>
              </a:rPr>
              <a:t>If/Switch untuk percabangan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652657"/>
            <a:ext cx="2832890" cy="8789318"/>
          </a:xfrm>
          <a:custGeom>
            <a:avLst/>
            <a:gdLst/>
            <a:ahLst/>
            <a:cxnLst/>
            <a:rect r="r" b="b" t="t" l="l"/>
            <a:pathLst>
              <a:path h="8789318" w="2832890">
                <a:moveTo>
                  <a:pt x="0" y="0"/>
                </a:moveTo>
                <a:lnTo>
                  <a:pt x="2832890" y="0"/>
                </a:lnTo>
                <a:lnTo>
                  <a:pt x="2832890" y="8789317"/>
                </a:lnTo>
                <a:lnTo>
                  <a:pt x="0" y="87893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9204733"/>
            <a:ext cx="7842402" cy="1082267"/>
          </a:xfrm>
          <a:custGeom>
            <a:avLst/>
            <a:gdLst/>
            <a:ahLst/>
            <a:cxnLst/>
            <a:rect r="r" b="b" t="t" l="l"/>
            <a:pathLst>
              <a:path h="1082267" w="7842402">
                <a:moveTo>
                  <a:pt x="0" y="0"/>
                </a:moveTo>
                <a:lnTo>
                  <a:pt x="7842402" y="0"/>
                </a:lnTo>
                <a:lnTo>
                  <a:pt x="7842402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76888" y="2551502"/>
            <a:ext cx="5895474" cy="229572"/>
          </a:xfrm>
          <a:custGeom>
            <a:avLst/>
            <a:gdLst/>
            <a:ahLst/>
            <a:cxnLst/>
            <a:rect r="r" b="b" t="t" l="l"/>
            <a:pathLst>
              <a:path h="229572" w="5895474">
                <a:moveTo>
                  <a:pt x="0" y="0"/>
                </a:moveTo>
                <a:lnTo>
                  <a:pt x="5895474" y="0"/>
                </a:lnTo>
                <a:lnTo>
                  <a:pt x="589547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531076" y="1830832"/>
            <a:ext cx="12447601" cy="6625336"/>
          </a:xfrm>
          <a:custGeom>
            <a:avLst/>
            <a:gdLst/>
            <a:ahLst/>
            <a:cxnLst/>
            <a:rect r="r" b="b" t="t" l="l"/>
            <a:pathLst>
              <a:path h="6625336" w="12447601">
                <a:moveTo>
                  <a:pt x="0" y="0"/>
                </a:moveTo>
                <a:lnTo>
                  <a:pt x="12447601" y="0"/>
                </a:lnTo>
                <a:lnTo>
                  <a:pt x="12447601" y="6625336"/>
                </a:lnTo>
                <a:lnTo>
                  <a:pt x="0" y="66253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54449" y="200025"/>
            <a:ext cx="5790296" cy="1438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9"/>
              </a:lnSpc>
            </a:pPr>
            <a:r>
              <a:rPr lang="en-US" sz="10809" b="true">
                <a:solidFill>
                  <a:srgbClr val="FFFFFF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PROMPTING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4449" y="1762853"/>
            <a:ext cx="6620256" cy="4367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9"/>
              </a:lnSpc>
            </a:pPr>
            <a:r>
              <a:rPr lang="en-US" sz="2707" b="true">
                <a:solidFill>
                  <a:srgbClr val="D13B4C"/>
                </a:solidFill>
                <a:latin typeface="Inter Bold"/>
                <a:ea typeface="Inter Bold"/>
                <a:cs typeface="Inter Bold"/>
                <a:sym typeface="Inter Bold"/>
              </a:rPr>
              <a:t>Role:</a:t>
            </a:r>
            <a:r>
              <a:rPr lang="en-US" sz="270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asisten gudang konveksi</a:t>
            </a:r>
          </a:p>
          <a:p>
            <a:pPr algn="l">
              <a:lnSpc>
                <a:spcPts val="3519"/>
              </a:lnSpc>
            </a:pPr>
          </a:p>
          <a:p>
            <a:pPr algn="l">
              <a:lnSpc>
                <a:spcPts val="3519"/>
              </a:lnSpc>
            </a:pPr>
            <a:r>
              <a:rPr lang="en-US" sz="2707" b="true">
                <a:solidFill>
                  <a:srgbClr val="D13B4C"/>
                </a:solidFill>
                <a:latin typeface="Inter Bold"/>
                <a:ea typeface="Inter Bold"/>
                <a:cs typeface="Inter Bold"/>
                <a:sym typeface="Inter Bold"/>
              </a:rPr>
              <a:t>Tugas:</a:t>
            </a:r>
            <a:r>
              <a:rPr lang="en-US" sz="270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ekstrak no_po, model, </a:t>
            </a:r>
          </a:p>
          <a:p>
            <a:pPr algn="l">
              <a:lnSpc>
                <a:spcPts val="3519"/>
              </a:lnSpc>
            </a:pPr>
            <a:r>
              <a:rPr lang="en-US" sz="270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jumlah dari PDF</a:t>
            </a:r>
          </a:p>
          <a:p>
            <a:pPr algn="l">
              <a:lnSpc>
                <a:spcPts val="3519"/>
              </a:lnSpc>
            </a:pPr>
          </a:p>
          <a:p>
            <a:pPr algn="l">
              <a:lnSpc>
                <a:spcPts val="3519"/>
              </a:lnSpc>
            </a:pPr>
            <a:r>
              <a:rPr lang="en-US" sz="2707" b="true">
                <a:solidFill>
                  <a:srgbClr val="D13B4C"/>
                </a:solidFill>
                <a:latin typeface="Inter Bold"/>
                <a:ea typeface="Inter Bold"/>
                <a:cs typeface="Inter Bold"/>
                <a:sym typeface="Inter Bold"/>
              </a:rPr>
              <a:t>Output:</a:t>
            </a:r>
            <a:r>
              <a:rPr lang="en-US" sz="270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707">
                <a:solidFill>
                  <a:srgbClr val="D13B4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70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JSON from murni </a:t>
            </a:r>
          </a:p>
          <a:p>
            <a:pPr algn="l">
              <a:lnSpc>
                <a:spcPts val="3519"/>
              </a:lnSpc>
            </a:pPr>
            <a:r>
              <a:rPr lang="en-US" sz="270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sesuai skema</a:t>
            </a:r>
          </a:p>
          <a:p>
            <a:pPr algn="l">
              <a:lnSpc>
                <a:spcPts val="3519"/>
              </a:lnSpc>
            </a:pPr>
          </a:p>
          <a:p>
            <a:pPr algn="l">
              <a:lnSpc>
                <a:spcPts val="3519"/>
              </a:lnSpc>
            </a:pPr>
            <a:r>
              <a:rPr lang="en-US" sz="2707" b="true">
                <a:solidFill>
                  <a:srgbClr val="D13B4C"/>
                </a:solidFill>
                <a:latin typeface="Inter Bold"/>
                <a:ea typeface="Inter Bold"/>
                <a:cs typeface="Inter Bold"/>
                <a:sym typeface="Inter Bold"/>
              </a:rPr>
              <a:t>Aturan:</a:t>
            </a:r>
            <a:r>
              <a:rPr lang="en-US" sz="270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tidak menebak,</a:t>
            </a:r>
          </a:p>
          <a:p>
            <a:pPr algn="l">
              <a:lnSpc>
                <a:spcPts val="3519"/>
              </a:lnSpc>
            </a:pPr>
            <a:r>
              <a:rPr lang="en-US" sz="270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nilai null jika tidak terbaca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968804" cy="6865288"/>
          </a:xfrm>
          <a:custGeom>
            <a:avLst/>
            <a:gdLst/>
            <a:ahLst/>
            <a:cxnLst/>
            <a:rect r="r" b="b" t="t" l="l"/>
            <a:pathLst>
              <a:path h="6865288" w="1968804">
                <a:moveTo>
                  <a:pt x="0" y="0"/>
                </a:moveTo>
                <a:lnTo>
                  <a:pt x="1968804" y="0"/>
                </a:lnTo>
                <a:lnTo>
                  <a:pt x="1968804" y="6865288"/>
                </a:lnTo>
                <a:lnTo>
                  <a:pt x="0" y="68652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56708" y="5783021"/>
            <a:ext cx="1531292" cy="4503979"/>
          </a:xfrm>
          <a:custGeom>
            <a:avLst/>
            <a:gdLst/>
            <a:ahLst/>
            <a:cxnLst/>
            <a:rect r="r" b="b" t="t" l="l"/>
            <a:pathLst>
              <a:path h="4503979" w="1531292">
                <a:moveTo>
                  <a:pt x="0" y="0"/>
                </a:moveTo>
                <a:lnTo>
                  <a:pt x="1531292" y="0"/>
                </a:lnTo>
                <a:lnTo>
                  <a:pt x="1531292" y="4503979"/>
                </a:lnTo>
                <a:lnTo>
                  <a:pt x="0" y="45039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50358" y="351056"/>
            <a:ext cx="3163824" cy="1517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98"/>
              </a:lnSpc>
            </a:pPr>
            <a:r>
              <a:rPr lang="en-US" sz="11498" b="true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HASIL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96544" y="1450903"/>
            <a:ext cx="3926670" cy="448211"/>
          </a:xfrm>
          <a:custGeom>
            <a:avLst/>
            <a:gdLst/>
            <a:ahLst/>
            <a:cxnLst/>
            <a:rect r="r" b="b" t="t" l="l"/>
            <a:pathLst>
              <a:path h="448211" w="3926670">
                <a:moveTo>
                  <a:pt x="0" y="0"/>
                </a:moveTo>
                <a:lnTo>
                  <a:pt x="3926670" y="0"/>
                </a:lnTo>
                <a:lnTo>
                  <a:pt x="3926670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1899115"/>
            <a:ext cx="448450" cy="1945894"/>
          </a:xfrm>
          <a:custGeom>
            <a:avLst/>
            <a:gdLst/>
            <a:ahLst/>
            <a:cxnLst/>
            <a:rect r="r" b="b" t="t" l="l"/>
            <a:pathLst>
              <a:path h="1945894" w="448450">
                <a:moveTo>
                  <a:pt x="0" y="0"/>
                </a:moveTo>
                <a:lnTo>
                  <a:pt x="448450" y="0"/>
                </a:lnTo>
                <a:lnTo>
                  <a:pt x="448450" y="1945893"/>
                </a:lnTo>
                <a:lnTo>
                  <a:pt x="0" y="19458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978867" y="309513"/>
            <a:ext cx="6688510" cy="5125097"/>
          </a:xfrm>
          <a:custGeom>
            <a:avLst/>
            <a:gdLst/>
            <a:ahLst/>
            <a:cxnLst/>
            <a:rect r="r" b="b" t="t" l="l"/>
            <a:pathLst>
              <a:path h="5125097" w="6688510">
                <a:moveTo>
                  <a:pt x="0" y="0"/>
                </a:moveTo>
                <a:lnTo>
                  <a:pt x="6688511" y="0"/>
                </a:lnTo>
                <a:lnTo>
                  <a:pt x="6688511" y="5125097"/>
                </a:lnTo>
                <a:lnTo>
                  <a:pt x="0" y="512509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806601" y="593595"/>
            <a:ext cx="4539412" cy="3949878"/>
          </a:xfrm>
          <a:custGeom>
            <a:avLst/>
            <a:gdLst/>
            <a:ahLst/>
            <a:cxnLst/>
            <a:rect r="r" b="b" t="t" l="l"/>
            <a:pathLst>
              <a:path h="3949878" w="4539412">
                <a:moveTo>
                  <a:pt x="0" y="0"/>
                </a:moveTo>
                <a:lnTo>
                  <a:pt x="4539412" y="0"/>
                </a:lnTo>
                <a:lnTo>
                  <a:pt x="4539412" y="3949878"/>
                </a:lnTo>
                <a:lnTo>
                  <a:pt x="0" y="394987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806601" y="4931960"/>
            <a:ext cx="5743048" cy="5157204"/>
          </a:xfrm>
          <a:custGeom>
            <a:avLst/>
            <a:gdLst/>
            <a:ahLst/>
            <a:cxnLst/>
            <a:rect r="r" b="b" t="t" l="l"/>
            <a:pathLst>
              <a:path h="5157204" w="5743048">
                <a:moveTo>
                  <a:pt x="0" y="0"/>
                </a:moveTo>
                <a:lnTo>
                  <a:pt x="5743048" y="0"/>
                </a:lnTo>
                <a:lnTo>
                  <a:pt x="5743048" y="5157204"/>
                </a:lnTo>
                <a:lnTo>
                  <a:pt x="0" y="515720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48450" y="2128511"/>
            <a:ext cx="5193792" cy="4034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6"/>
              </a:lnSpc>
            </a:pPr>
            <a:r>
              <a:rPr lang="en-US" sz="307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 tercatat otomatis</a:t>
            </a:r>
          </a:p>
          <a:p>
            <a:pPr algn="l">
              <a:lnSpc>
                <a:spcPts val="4606"/>
              </a:lnSpc>
            </a:pPr>
          </a:p>
          <a:p>
            <a:pPr algn="l">
              <a:lnSpc>
                <a:spcPts val="4606"/>
              </a:lnSpc>
            </a:pPr>
            <a:r>
              <a:rPr lang="en-US" sz="307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Kebutuhan bahan </a:t>
            </a:r>
          </a:p>
          <a:p>
            <a:pPr algn="l">
              <a:lnSpc>
                <a:spcPts val="4606"/>
              </a:lnSpc>
            </a:pPr>
            <a:r>
              <a:rPr lang="en-US" sz="307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terhitung</a:t>
            </a:r>
          </a:p>
          <a:p>
            <a:pPr algn="l">
              <a:lnSpc>
                <a:spcPts val="4606"/>
              </a:lnSpc>
            </a:pPr>
          </a:p>
          <a:p>
            <a:pPr algn="l">
              <a:lnSpc>
                <a:spcPts val="4606"/>
              </a:lnSpc>
            </a:pPr>
            <a:r>
              <a:rPr lang="en-US" sz="307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Notifikasi sesuai </a:t>
            </a:r>
          </a:p>
          <a:p>
            <a:pPr algn="l">
              <a:lnSpc>
                <a:spcPts val="4606"/>
              </a:lnSpc>
            </a:pPr>
            <a:r>
              <a:rPr lang="en-US" sz="307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status stok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DAHWyAxE15c</dc:identifier>
  <dcterms:modified xsi:type="dcterms:W3CDTF">2011-08-01T06:04:30Z</dcterms:modified>
  <cp:revision>1</cp:revision>
  <dc:title>Otomasi Stok Konveksi</dc:title>
</cp:coreProperties>
</file>